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18"/>
  </p:notesMasterIdLst>
  <p:sldIdLst>
    <p:sldId id="256" r:id="rId2"/>
    <p:sldId id="258" r:id="rId3"/>
    <p:sldId id="257" r:id="rId4"/>
    <p:sldId id="262" r:id="rId5"/>
    <p:sldId id="263" r:id="rId6"/>
    <p:sldId id="267" r:id="rId7"/>
    <p:sldId id="266" r:id="rId8"/>
    <p:sldId id="259" r:id="rId9"/>
    <p:sldId id="260" r:id="rId10"/>
    <p:sldId id="261" r:id="rId11"/>
    <p:sldId id="268" r:id="rId12"/>
    <p:sldId id="270" r:id="rId13"/>
    <p:sldId id="272" r:id="rId14"/>
    <p:sldId id="265" r:id="rId15"/>
    <p:sldId id="269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14320D-9E3A-43B2-B232-402D78146534}" type="datetimeFigureOut">
              <a:rPr lang="en-CA" smtClean="0"/>
              <a:t>2025-06-05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0F5C12-7F48-4162-9A68-9B9F31774E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7834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E700F-2C04-0B61-DB4A-4883E5DA9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FC750A-D292-D022-3078-D5219B4A58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13E8E6-642C-5A04-C8A6-6BB898DBC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D8551-92D1-1879-DBB1-9737527C0C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F5C12-7F48-4162-9A68-9B9F31774E29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660525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533A7-EDD6-EAD4-69D4-A8FD8E23E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201F83-8584-522C-10F1-9D28DBC736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8C58E9-0D7D-34C4-4534-EDB57D3428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A3480-81DA-C56B-B25F-B9F4CE2A71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F5C12-7F48-4162-9A68-9B9F31774E29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21996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96A64-FD60-017A-64F5-0FC79202D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F60922-251D-5D19-5EC2-C8406CF29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171D53-2FC2-D2A0-6927-56FA5642D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2E840-70F9-7805-CC5A-E25B75FFB8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F5C12-7F48-4162-9A68-9B9F31774E29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56222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DA25A-AB61-03A6-652D-F1412A58B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CE4F06-062D-CB4F-37D1-7735422D8A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C6B5A2-EA2A-666E-7F18-B0FA3AF4C5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ACB92-6BA0-1489-FFD7-8323D985EE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F5C12-7F48-4162-9A68-9B9F31774E29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8579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D9922-8D8F-1621-D70D-A8918F87B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DFAB7-EE66-30A8-20D7-A532E28CBC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BD46CB-8505-DB20-B7B1-5B2BB26B73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69DE0-FB82-6639-2746-D141B37E73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F5C12-7F48-4162-9A68-9B9F31774E29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72947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0B05C-E1EB-4EAC-62D0-821FE1DEF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090566-98C3-844D-9056-838A4A4B03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4C7A44-F091-516D-85F1-FE7DE9E1A2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D0030-5B7C-E968-CF15-5F55450DD9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F5C12-7F48-4162-9A68-9B9F31774E29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2257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305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815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065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895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6/5/2025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435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6/5/2025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545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6/5/2025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286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550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670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256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057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937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 descr="A splash of colors on a white surface">
            <a:extLst>
              <a:ext uri="{FF2B5EF4-FFF2-40B4-BE49-F238E27FC236}">
                <a16:creationId xmlns:a16="http://schemas.microsoft.com/office/drawing/2014/main" id="{68C8A8B1-8EDF-DD24-DFF3-3BE5A63941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98" b="2260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7D064F0-6D2A-219C-C000-14ABD99ECE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8306" y="0"/>
            <a:ext cx="4903694" cy="6858001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30A0A2-5B5A-DC09-F327-A20B2C1A93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88306" y="822960"/>
            <a:ext cx="4903674" cy="3474720"/>
          </a:xfrm>
        </p:spPr>
        <p:txBody>
          <a:bodyPr anchor="b">
            <a:normAutofit/>
          </a:bodyPr>
          <a:lstStyle/>
          <a:p>
            <a:pPr algn="l"/>
            <a:br>
              <a:rPr lang="en-US" sz="5200" dirty="0"/>
            </a:br>
            <a:r>
              <a:rPr lang="en-US" sz="2000" b="0" dirty="0">
                <a:solidFill>
                  <a:schemeClr val="tx1">
                    <a:lumMod val="85000"/>
                  </a:schemeClr>
                </a:solidFill>
              </a:rPr>
              <a:t>NSP Alarms</a:t>
            </a:r>
            <a:br>
              <a:rPr lang="en-US" sz="2400" dirty="0"/>
            </a:br>
            <a:r>
              <a:rPr lang="en-US" sz="5200" dirty="0"/>
              <a:t>GenAI </a:t>
            </a:r>
            <a:br>
              <a:rPr lang="en-US" sz="5200" dirty="0"/>
            </a:br>
            <a:r>
              <a:rPr lang="en-US" sz="5200" dirty="0"/>
              <a:t>RCA Agent </a:t>
            </a:r>
            <a:r>
              <a:rPr lang="en-US" sz="1800" b="0" dirty="0"/>
              <a:t>v4</a:t>
            </a:r>
            <a:br>
              <a:rPr lang="en-US" sz="5200" dirty="0"/>
            </a:br>
            <a:r>
              <a:rPr lang="en-US" sz="1400" b="0" dirty="0">
                <a:solidFill>
                  <a:schemeClr val="tx1">
                    <a:lumMod val="85000"/>
                  </a:schemeClr>
                </a:solidFill>
              </a:rPr>
              <a:t>Using Google Gemini</a:t>
            </a:r>
            <a:endParaRPr lang="en-CA" sz="1400" b="0" dirty="0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2E6456-53C8-A215-C93D-06750EEB73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8306" y="4427210"/>
            <a:ext cx="3931920" cy="1386840"/>
          </a:xfrm>
        </p:spPr>
        <p:txBody>
          <a:bodyPr anchor="t">
            <a:normAutofit/>
          </a:bodyPr>
          <a:lstStyle/>
          <a:p>
            <a:pPr algn="l"/>
            <a:endParaRPr lang="en-US" sz="2200" dirty="0"/>
          </a:p>
          <a:p>
            <a:pPr algn="l"/>
            <a:r>
              <a:rPr lang="en-US" sz="2200" dirty="0"/>
              <a:t>Rahim Pirbhai </a:t>
            </a:r>
          </a:p>
          <a:p>
            <a:pPr algn="l"/>
            <a:r>
              <a:rPr lang="en-US" sz="1400" dirty="0">
                <a:solidFill>
                  <a:schemeClr val="tx1">
                    <a:lumMod val="85000"/>
                  </a:schemeClr>
                </a:solidFill>
              </a:rPr>
              <a:t>May 2025</a:t>
            </a:r>
            <a:endParaRPr lang="en-CA" sz="1400" dirty="0">
              <a:solidFill>
                <a:schemeClr val="tx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45085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98D1-BF5B-8A89-4314-ED2910DAF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Components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170B7-7A20-A837-B4D0-3086B841F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Python</a:t>
            </a:r>
          </a:p>
          <a:p>
            <a:pPr lvl="1"/>
            <a:r>
              <a:rPr lang="en-US" dirty="0"/>
              <a:t>NSP client</a:t>
            </a:r>
          </a:p>
          <a:p>
            <a:pPr lvl="1"/>
            <a:r>
              <a:rPr lang="en-US" dirty="0"/>
              <a:t>Kafka client</a:t>
            </a:r>
          </a:p>
          <a:p>
            <a:pPr lvl="1"/>
            <a:r>
              <a:rPr lang="en-US" dirty="0"/>
              <a:t>RCA Agent</a:t>
            </a:r>
          </a:p>
          <a:p>
            <a:r>
              <a:rPr lang="en-US" dirty="0"/>
              <a:t>NSP </a:t>
            </a:r>
          </a:p>
          <a:p>
            <a:pPr lvl="1"/>
            <a:r>
              <a:rPr lang="en-US" dirty="0"/>
              <a:t>24.11</a:t>
            </a:r>
            <a:endParaRPr lang="en-CA" dirty="0"/>
          </a:p>
          <a:p>
            <a:pPr lvl="1"/>
            <a:r>
              <a:rPr lang="en-CA" dirty="0"/>
              <a:t>Kafka alarms (Topic= NSP-FAULT-YANG)</a:t>
            </a:r>
          </a:p>
          <a:p>
            <a:r>
              <a:rPr lang="en-CA" dirty="0"/>
              <a:t>LLM </a:t>
            </a:r>
          </a:p>
          <a:p>
            <a:pPr lvl="1"/>
            <a:r>
              <a:rPr lang="en-CA" dirty="0"/>
              <a:t>Google Gemini</a:t>
            </a:r>
          </a:p>
          <a:p>
            <a:pPr lvl="2"/>
            <a:r>
              <a:rPr lang="en-CA" dirty="0"/>
              <a:t>2.0 Flash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472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F8C87-7CB8-4CE4-F097-011FDB19C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</a:t>
            </a:r>
            <a:endParaRPr lang="en-CA" dirty="0"/>
          </a:p>
        </p:txBody>
      </p:sp>
      <p:pic>
        <p:nvPicPr>
          <p:cNvPr id="8" name="Picture 7" descr="A screenshot of a computer">
            <a:extLst>
              <a:ext uri="{FF2B5EF4-FFF2-40B4-BE49-F238E27FC236}">
                <a16:creationId xmlns:a16="http://schemas.microsoft.com/office/drawing/2014/main" id="{A263EFE0-46AE-0FA6-8695-BAFAE7F020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599" y="669675"/>
            <a:ext cx="9410101" cy="607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79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F1103-EB8B-FBC4-1A32-FE4B48EA3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Anonymized Data </a:t>
            </a:r>
            <a:endParaRPr lang="en-CA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BD0889B-2A0E-6C58-E714-ADD0138791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3397871"/>
              </p:ext>
            </p:extLst>
          </p:nvPr>
        </p:nvGraphicFramePr>
        <p:xfrm>
          <a:off x="612514" y="2587692"/>
          <a:ext cx="10653712" cy="288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6856">
                  <a:extLst>
                    <a:ext uri="{9D8B030D-6E8A-4147-A177-3AD203B41FA5}">
                      <a16:colId xmlns:a16="http://schemas.microsoft.com/office/drawing/2014/main" val="2379817009"/>
                    </a:ext>
                  </a:extLst>
                </a:gridCol>
                <a:gridCol w="5326856">
                  <a:extLst>
                    <a:ext uri="{9D8B030D-6E8A-4147-A177-3AD203B41FA5}">
                      <a16:colId xmlns:a16="http://schemas.microsoft.com/office/drawing/2014/main" val="13140061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Actual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 to LLM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551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05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2025-05-12T18:32:02.760893587Z | </a:t>
                      </a:r>
                      <a:r>
                        <a:rPr lang="en-CA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sim234_225</a:t>
                      </a:r>
                      <a:r>
                        <a:rPr lang="en-CA" sz="105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| fdn:app:mdm-ami-cmodel:</a:t>
                      </a:r>
                      <a:r>
                        <a:rPr lang="en-CA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2001::225</a:t>
                      </a:r>
                      <a:r>
                        <a:rPr lang="en-CA" sz="105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:service:Site:/service[</a:t>
                      </a:r>
                      <a:r>
                        <a:rPr lang="en-CA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service-id='411'</a:t>
                      </a:r>
                      <a:r>
                        <a:rPr lang="en-CA" sz="105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| </a:t>
                      </a:r>
                      <a:r>
                        <a:rPr lang="en-CA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Interface </a:t>
                      </a:r>
                      <a:r>
                        <a:rPr lang="en-CA" sz="105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toCE</a:t>
                      </a:r>
                      <a:r>
                        <a:rPr lang="en-CA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CA" sz="105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 not operational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2025-05-12T18:32:02.760893587Z | </a:t>
                      </a:r>
                      <a:r>
                        <a:rPr lang="en-CA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jfr9fge1</a:t>
                      </a:r>
                      <a:r>
                        <a:rPr lang="en-CA" sz="105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| fdn:app:mdm-ami-cmodel:</a:t>
                      </a:r>
                      <a:r>
                        <a:rPr lang="en-CA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3pifkb1q</a:t>
                      </a:r>
                      <a:r>
                        <a:rPr lang="en-CA" sz="105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:service:Site:/service[</a:t>
                      </a:r>
                      <a:r>
                        <a:rPr lang="en-CA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yo4xz9f0</a:t>
                      </a:r>
                      <a:r>
                        <a:rPr lang="en-CA" sz="105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| </a:t>
                      </a:r>
                      <a:r>
                        <a:rPr lang="en-CA" sz="105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avlb8xpc</a:t>
                      </a:r>
                      <a:r>
                        <a:rPr lang="en-CA" sz="105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is not operational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8248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05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2025-05-20T19:49:34.586318210Z | </a:t>
                      </a:r>
                      <a:r>
                        <a:rPr lang="en-CA" sz="105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sim234_225</a:t>
                      </a:r>
                      <a:r>
                        <a:rPr lang="en-CA" sz="105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| fdn:app:mdm-ami-cmodel:</a:t>
                      </a:r>
                      <a:r>
                        <a:rPr lang="en-CA" sz="105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2001::225</a:t>
                      </a:r>
                      <a:r>
                        <a:rPr lang="en-CA" sz="105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:equipment:Equipment:/port[</a:t>
                      </a:r>
                      <a:r>
                        <a:rPr lang="en-CA" sz="105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port-id='1/1/c3/1'</a:t>
                      </a:r>
                      <a:r>
                        <a:rPr lang="en-CA" sz="105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] | </a:t>
                      </a:r>
                      <a:r>
                        <a:rPr lang="en-CA" sz="105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Interface 1/1/c3/1 </a:t>
                      </a:r>
                      <a:r>
                        <a:rPr lang="en-CA" sz="105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is not operational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2025-05-20T19:49:34.586318210Z | </a:t>
                      </a:r>
                      <a:r>
                        <a:rPr lang="en-CA" sz="105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jfr9fge1</a:t>
                      </a:r>
                      <a:r>
                        <a:rPr lang="en-CA" sz="105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| fdn:app:mdm-ami-cmodel:</a:t>
                      </a:r>
                      <a:r>
                        <a:rPr lang="en-CA" sz="105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3pifkb1q</a:t>
                      </a:r>
                      <a:r>
                        <a:rPr lang="en-CA" sz="105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:equipment:Equipment:/port[</a:t>
                      </a:r>
                      <a:r>
                        <a:rPr lang="en-CA" sz="105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m0zwciib</a:t>
                      </a:r>
                      <a:r>
                        <a:rPr lang="en-CA" sz="105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] | </a:t>
                      </a:r>
                      <a:r>
                        <a:rPr lang="en-CA" sz="105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pg8q5tv4</a:t>
                      </a:r>
                      <a:r>
                        <a:rPr lang="en-CA" sz="105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is not operational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656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05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2025-05-12T18:32:01.672731026Z | </a:t>
                      </a:r>
                      <a:r>
                        <a:rPr lang="en-CA" sz="105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sim234_236</a:t>
                      </a:r>
                      <a:r>
                        <a:rPr lang="en-CA" sz="105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| fdn:app:mdm-ami-cmodel:</a:t>
                      </a:r>
                      <a:r>
                        <a:rPr lang="en-CA" sz="105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100.2.3.4</a:t>
                      </a:r>
                      <a:r>
                        <a:rPr lang="en-CA" sz="105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:/</a:t>
                      </a:r>
                      <a:r>
                        <a:rPr lang="en-CA" sz="105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openconfig-network-instance:network-instances</a:t>
                      </a:r>
                      <a:r>
                        <a:rPr lang="en-CA" sz="105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/network-instance/protocols/protocol/</a:t>
                      </a:r>
                      <a:r>
                        <a:rPr lang="en-CA" sz="105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bgp</a:t>
                      </a:r>
                      <a:r>
                        <a:rPr lang="en-CA" sz="105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/neighbors/neighbor/state:/router[router-name='Base']/</a:t>
                      </a:r>
                      <a:r>
                        <a:rPr lang="en-CA" sz="105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bgp</a:t>
                      </a:r>
                      <a:r>
                        <a:rPr lang="en-CA" sz="105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/neighbor[</a:t>
                      </a:r>
                      <a:r>
                        <a:rPr lang="en-CA" sz="105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ip</a:t>
                      </a:r>
                      <a:r>
                        <a:rPr lang="en-CA" sz="105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-address='</a:t>
                      </a:r>
                      <a:r>
                        <a:rPr lang="en-CA" sz="105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FFC0:1::1</a:t>
                      </a:r>
                      <a:r>
                        <a:rPr lang="en-CA" sz="105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'] | (</a:t>
                      </a:r>
                      <a:r>
                        <a:rPr lang="en-CA" sz="105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ASN 200</a:t>
                      </a:r>
                      <a:r>
                        <a:rPr lang="en-CA" sz="105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) VR 1: Group iBGP: Peer </a:t>
                      </a:r>
                      <a:r>
                        <a:rPr lang="en-CA" sz="105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FFC0:1::1</a:t>
                      </a:r>
                      <a:r>
                        <a:rPr lang="en-CA" sz="105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: received notification: code CEASE subcode CONN_REJECT</a:t>
                      </a:r>
                    </a:p>
                    <a:p>
                      <a:endParaRPr lang="en-CA" sz="1050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05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2025-05-12T18:32:01.672731026Z | </a:t>
                      </a:r>
                      <a:r>
                        <a:rPr lang="en-CA" sz="105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6cc1vpht</a:t>
                      </a:r>
                      <a:r>
                        <a:rPr lang="en-CA" sz="105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| fdn:app:mdm-ami-cmodel:</a:t>
                      </a:r>
                      <a:r>
                        <a:rPr lang="en-CA" sz="105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20fwv1o7</a:t>
                      </a:r>
                      <a:r>
                        <a:rPr lang="en-CA" sz="105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:/</a:t>
                      </a:r>
                      <a:r>
                        <a:rPr lang="en-CA" sz="105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openconfig-network-instance:network-instances</a:t>
                      </a:r>
                      <a:r>
                        <a:rPr lang="en-CA" sz="105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/network-instance/protocols/protocol/</a:t>
                      </a:r>
                      <a:r>
                        <a:rPr lang="en-CA" sz="105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bgp</a:t>
                      </a:r>
                      <a:r>
                        <a:rPr lang="en-CA" sz="105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/neighbors/neighbor/state:/router[router-name='Base']/</a:t>
                      </a:r>
                      <a:r>
                        <a:rPr lang="en-CA" sz="105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bgp</a:t>
                      </a:r>
                      <a:r>
                        <a:rPr lang="en-CA" sz="105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/neighbor[</a:t>
                      </a:r>
                      <a:r>
                        <a:rPr lang="en-CA" sz="105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ip</a:t>
                      </a:r>
                      <a:r>
                        <a:rPr lang="en-CA" sz="105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-address='</a:t>
                      </a:r>
                      <a:r>
                        <a:rPr lang="en-CA" sz="105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d4by4wp8</a:t>
                      </a:r>
                      <a:r>
                        <a:rPr lang="en-CA" sz="105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'] | (</a:t>
                      </a:r>
                      <a:r>
                        <a:rPr lang="en-CA" sz="105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zke8kw2c</a:t>
                      </a:r>
                      <a:r>
                        <a:rPr lang="en-CA" sz="105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) VR 1: Group iBGP: Peer </a:t>
                      </a:r>
                      <a:r>
                        <a:rPr lang="en-CA" sz="105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d4by4wp8</a:t>
                      </a:r>
                      <a:r>
                        <a:rPr lang="en-CA" sz="105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: received notification: code CEASE subcode CONN_REJECT</a:t>
                      </a:r>
                    </a:p>
                    <a:p>
                      <a:endParaRPr lang="en-CA" sz="1050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36048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08BB270-40B1-A983-64C5-30E752B3F0E2}"/>
              </a:ext>
            </a:extLst>
          </p:cNvPr>
          <p:cNvSpPr txBox="1"/>
          <p:nvPr/>
        </p:nvSpPr>
        <p:spPr>
          <a:xfrm>
            <a:off x="540460" y="1341292"/>
            <a:ext cx="105606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RCA Agent maintains a dictionary (well-known &lt;-&gt; anonymized) that it builds in real-time.</a:t>
            </a:r>
          </a:p>
          <a:p>
            <a:r>
              <a:rPr lang="en-US" dirty="0"/>
              <a:t>Identifiers sent to the LLM are garbled; subsequently the anonymized root-cause FDNs that the LLM returns are translated back to their actual well-known values to send to the Actor (the network administrator).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2BED70-8865-CD75-A37A-DC754A25B824}"/>
              </a:ext>
            </a:extLst>
          </p:cNvPr>
          <p:cNvSpPr txBox="1"/>
          <p:nvPr/>
        </p:nvSpPr>
        <p:spPr>
          <a:xfrm>
            <a:off x="540460" y="5567918"/>
            <a:ext cx="105606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Further anonymization can be achieved by programming the Agent to reset the dictionary periodically (e.g. every 5 minutes) to roll new patterns for the same identifiers.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57028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1ADF4-2A02-BE81-55B9-E2FA6C4EB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5C1CF-0E59-CF31-0B0C-D2562D4C3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RCA Agent</a:t>
            </a:r>
            <a:br>
              <a:rPr lang="en-US" dirty="0"/>
            </a:br>
            <a:r>
              <a:rPr lang="en-US" sz="1800" b="0" dirty="0"/>
              <a:t>Prompt and Output</a:t>
            </a:r>
            <a:endParaRPr lang="en-CA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B04C6-E8E2-1028-F143-D9D67DF4A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few-shot prompt is used</a:t>
            </a:r>
          </a:p>
          <a:p>
            <a:pPr lvl="1"/>
            <a:r>
              <a:rPr lang="en-US" dirty="0"/>
              <a:t>The following information is sent to LLM:</a:t>
            </a:r>
          </a:p>
          <a:p>
            <a:pPr marL="2286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If there is a single root-cause for the failure: LLM will return a single root-cause FDN</a:t>
            </a:r>
          </a:p>
          <a:p>
            <a:r>
              <a:rPr lang="en-US" dirty="0"/>
              <a:t>If there are multiple possible root-causes for the failure, LLM will return multiple root-cause FDNs</a:t>
            </a:r>
          </a:p>
          <a:p>
            <a:r>
              <a:rPr lang="en-US" dirty="0"/>
              <a:t>If there isn’t enough information to make an inference e.g. logical failure in the absence of equipment failure, LLM will return ‘indeterminate’</a:t>
            </a:r>
            <a:endParaRPr lang="en-CA" dirty="0"/>
          </a:p>
          <a:p>
            <a:r>
              <a:rPr lang="en-CA" dirty="0"/>
              <a:t>The next slides show </a:t>
            </a:r>
            <a:r>
              <a:rPr lang="en-CA" dirty="0" err="1"/>
              <a:t>stdout</a:t>
            </a:r>
            <a:r>
              <a:rPr lang="en-CA" dirty="0"/>
              <a:t> of the Agent working on real-time alarm feeds …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41E7D80-0BD4-1F59-CDC9-CA5A40D3E4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036828"/>
              </p:ext>
            </p:extLst>
          </p:nvPr>
        </p:nvGraphicFramePr>
        <p:xfrm>
          <a:off x="925774" y="2588571"/>
          <a:ext cx="10180376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3458">
                  <a:extLst>
                    <a:ext uri="{9D8B030D-6E8A-4147-A177-3AD203B41FA5}">
                      <a16:colId xmlns:a16="http://schemas.microsoft.com/office/drawing/2014/main" val="78502395"/>
                    </a:ext>
                  </a:extLst>
                </a:gridCol>
                <a:gridCol w="1696730">
                  <a:extLst>
                    <a:ext uri="{9D8B030D-6E8A-4147-A177-3AD203B41FA5}">
                      <a16:colId xmlns:a16="http://schemas.microsoft.com/office/drawing/2014/main" val="2629914376"/>
                    </a:ext>
                  </a:extLst>
                </a:gridCol>
                <a:gridCol w="1696730">
                  <a:extLst>
                    <a:ext uri="{9D8B030D-6E8A-4147-A177-3AD203B41FA5}">
                      <a16:colId xmlns:a16="http://schemas.microsoft.com/office/drawing/2014/main" val="1364181077"/>
                    </a:ext>
                  </a:extLst>
                </a:gridCol>
                <a:gridCol w="3393458">
                  <a:extLst>
                    <a:ext uri="{9D8B030D-6E8A-4147-A177-3AD203B41FA5}">
                      <a16:colId xmlns:a16="http://schemas.microsoft.com/office/drawing/2014/main" val="301458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“You are the </a:t>
                      </a:r>
                      <a:r>
                        <a:rPr lang="en-CA" sz="11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network alarms RCA agent”</a:t>
                      </a:r>
                    </a:p>
                    <a:p>
                      <a:pPr marL="0" algn="l" defTabSz="914400" rtl="0" eaLnBrk="1" latinLnBrk="0" hangingPunct="1"/>
                      <a:endParaRPr lang="en-CA" sz="11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Format of alarms feed (very abbreviated NSP Kafka output in tabular form)</a:t>
                      </a:r>
                      <a:endParaRPr lang="en-CA" sz="1100" b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How to determine the root-cause failure or failures + expected response format</a:t>
                      </a:r>
                      <a:endParaRPr lang="en-CA" sz="1100" b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905785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sz="11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Two examples of alarm-feeds + expected responses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“Explain your reasoning”</a:t>
                      </a:r>
                      <a:endParaRPr lang="en-CA" sz="11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CA" sz="11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89887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4695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32CF8-68F5-5EC8-A603-27EAB8128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04BA7-A09F-6341-CE3D-1416AB9FB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RCA Agent</a:t>
            </a:r>
            <a:br>
              <a:rPr lang="en-US" dirty="0"/>
            </a:br>
            <a:r>
              <a:rPr lang="en-US" sz="1800" b="0" dirty="0" err="1"/>
              <a:t>ReAct</a:t>
            </a:r>
            <a:r>
              <a:rPr lang="en-US" sz="1800" b="0" dirty="0"/>
              <a:t> Tools </a:t>
            </a:r>
            <a:endParaRPr lang="en-CA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85E36-47EC-3339-4990-5470A537D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900" dirty="0"/>
              <a:t>On-the-fly interactions between the LLM and NSP to clarify per-alarm object identity/association</a:t>
            </a:r>
          </a:p>
          <a:p>
            <a:pPr lvl="1"/>
            <a:r>
              <a:rPr lang="en-US" sz="2300" dirty="0"/>
              <a:t>Goal: Improve the quality of data sent to the LLM to improve RCA</a:t>
            </a:r>
          </a:p>
          <a:p>
            <a:pPr lvl="2"/>
            <a:r>
              <a:rPr lang="en-US" sz="2300" dirty="0"/>
              <a:t>Clarify relationships between alarmed objects</a:t>
            </a:r>
          </a:p>
          <a:p>
            <a:pPr lvl="3"/>
            <a:r>
              <a:rPr lang="en-US" sz="2000" dirty="0"/>
              <a:t>Parent port for L3VPN interface:</a:t>
            </a:r>
          </a:p>
          <a:p>
            <a:pPr marL="685800" lvl="3" indent="0">
              <a:buNone/>
            </a:pP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2025-05-20T19:20:18.400111080Z |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sim234_225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| fdn:app:mdm-ami-cmodel:2001::225:service:Site:/service[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service-id='411'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] |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</a:t>
            </a:r>
            <a:r>
              <a:rPr lang="en-CA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toCE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is not operational</a:t>
            </a:r>
          </a:p>
          <a:p>
            <a:pPr lvl="3"/>
            <a:r>
              <a:rPr lang="en-US" sz="2000" dirty="0"/>
              <a:t>IGP NH interface for iBGP peer:</a:t>
            </a:r>
          </a:p>
          <a:p>
            <a:pPr marL="685800" lvl="3" indent="0">
              <a:buNone/>
            </a:pP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2025-05-27T17:34:59.819541798Z |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sim234_236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| fdn:app:mdm-ami-cmodel:2001::236:/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openconfig-network-instance:network-instances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/network-instance/protocols/protocol/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bgp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/neighbors/neighbor/state:/router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[router-name='Base']/</a:t>
            </a:r>
            <a:r>
              <a:rPr lang="en-CA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bgp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/neighbor[</a:t>
            </a:r>
            <a:r>
              <a:rPr lang="en-CA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-address='38.120.234.226']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| (ASN 200) VR 1: Group iBGP: Peer 38.120.234.226: received notification: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code CEASE subcode CONN_REJECT</a:t>
            </a:r>
          </a:p>
          <a:p>
            <a:pPr lvl="3"/>
            <a:r>
              <a:rPr lang="en-CA" sz="2000" dirty="0"/>
              <a:t>Parent port for PE-CE eBGP peer:</a:t>
            </a:r>
          </a:p>
          <a:p>
            <a:pPr marL="685800" lvl="3" indent="0">
              <a:buNone/>
            </a:pP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2025-05-27T17:35:01.972907588Z |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sim234_225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| fdn:app:mdm-ami-cmodel:2001::225:/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openconfig-network-instance:network-instances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/network-instance/protocols/protocol/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bgp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/neighbors/neighbor/state:/service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[service-id='411']/</a:t>
            </a:r>
            <a:r>
              <a:rPr lang="en-CA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bgp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/neighbor[</a:t>
            </a:r>
            <a:r>
              <a:rPr lang="en-CA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-address='10.41.1.2']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| (ASN 200) VR 7: Group </a:t>
            </a:r>
            <a:r>
              <a:rPr lang="en-CA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toCE</a:t>
            </a:r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Peer 10.41.1.2: being </a:t>
            </a:r>
            <a:r>
              <a:rPr lang="en-CA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disabled because the interface is operationally disabled</a:t>
            </a:r>
          </a:p>
          <a:p>
            <a:pPr lvl="2"/>
            <a:r>
              <a:rPr lang="en-CA" sz="2400" dirty="0">
                <a:latin typeface="+mj-lt"/>
                <a:cs typeface="Courier New" panose="02070309020205020404" pitchFamily="49" charset="0"/>
              </a:rPr>
              <a:t>Future: Inter-NE correlation (see Future Enhancements section)</a:t>
            </a:r>
          </a:p>
          <a:p>
            <a:pPr marL="228600" lvl="1" indent="0">
              <a:buNone/>
            </a:pPr>
            <a:r>
              <a:rPr lang="en-US" dirty="0"/>
              <a:t> </a:t>
            </a:r>
          </a:p>
        </p:txBody>
      </p:sp>
      <p:pic>
        <p:nvPicPr>
          <p:cNvPr id="6" name="Picture 5" descr="A red triangle on a black background&#10;&#10;AI-generated content may be incorrect.">
            <a:extLst>
              <a:ext uri="{FF2B5EF4-FFF2-40B4-BE49-F238E27FC236}">
                <a16:creationId xmlns:a16="http://schemas.microsoft.com/office/drawing/2014/main" id="{B792DFA4-B8A0-CFFC-8236-A06CE275BF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1905" y="548640"/>
            <a:ext cx="777872" cy="7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065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BF608-3514-3A47-6D39-0DF918009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78F88-BDA4-C077-ADD7-E91586ACE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RCA Agent</a:t>
            </a:r>
            <a:br>
              <a:rPr lang="en-US" dirty="0"/>
            </a:br>
            <a:r>
              <a:rPr lang="en-US" sz="2000" b="0" dirty="0"/>
              <a:t>Demo</a:t>
            </a:r>
            <a:br>
              <a:rPr lang="en-US" dirty="0"/>
            </a:br>
            <a:endParaRPr lang="en-CA" b="0" dirty="0"/>
          </a:p>
        </p:txBody>
      </p:sp>
    </p:spTree>
    <p:extLst>
      <p:ext uri="{BB962C8B-B14F-4D97-AF65-F5344CB8AC3E}">
        <p14:creationId xmlns:p14="http://schemas.microsoft.com/office/powerpoint/2010/main" val="3846130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CC229-B643-785E-F22F-8BD59E727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RCA Agent</a:t>
            </a:r>
            <a:br>
              <a:rPr lang="en-US" dirty="0"/>
            </a:br>
            <a:r>
              <a:rPr lang="en-US" sz="1800" b="0" dirty="0"/>
              <a:t>Real Output #1</a:t>
            </a:r>
            <a:endParaRPr lang="en-CA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9C6E7-A936-4F2A-9B10-4D8EB9E2E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gemini_alarms_rca_agent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receiving messages ...</a:t>
            </a:r>
          </a:p>
          <a:p>
            <a:pPr marL="0" indent="0">
              <a:buNone/>
            </a:pP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2025-05-20T19:20:18.368294936Z | </a:t>
            </a:r>
            <a:r>
              <a:rPr lang="en-CA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sim234_225</a:t>
            </a: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| fdn:app:mdm-ami-cmodel:2001::225:equipment:Equipment:/port[</a:t>
            </a:r>
            <a:r>
              <a:rPr lang="en-CA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port-id='1/1/c2/1'</a:t>
            </a: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] | </a:t>
            </a:r>
            <a:r>
              <a:rPr lang="en-CA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1/1/c2/1 is not operational</a:t>
            </a:r>
          </a:p>
          <a:p>
            <a:pPr marL="0" indent="0">
              <a:buNone/>
            </a:pP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2025-05-20T19:20:18.400111080Z | </a:t>
            </a:r>
            <a:r>
              <a:rPr lang="en-CA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sim234_225</a:t>
            </a: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| fdn:app:mdm-ami-cmodel:2001::225:service:Site:/service[</a:t>
            </a:r>
            <a:r>
              <a:rPr lang="en-CA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service-id='411'</a:t>
            </a: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] | </a:t>
            </a:r>
            <a:r>
              <a:rPr lang="en-CA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</a:t>
            </a:r>
            <a:r>
              <a:rPr lang="en-CA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toCE</a:t>
            </a:r>
            <a:r>
              <a:rPr lang="en-CA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is not operational</a:t>
            </a:r>
          </a:p>
          <a:p>
            <a:pPr marL="0" indent="0">
              <a:buNone/>
            </a:pP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2025-05-20T19:20:18.408108809Z | </a:t>
            </a:r>
            <a:r>
              <a:rPr lang="en-CA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sim234_225</a:t>
            </a: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| fdn:app:mdm-ami-cmodel:2001::225:/</a:t>
            </a:r>
            <a:r>
              <a:rPr lang="en-CA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openconfig-network-instance:network-instances</a:t>
            </a: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/network-instance/protocols/protocol/</a:t>
            </a:r>
            <a:r>
              <a:rPr lang="en-CA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bgp</a:t>
            </a: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/neighbors/neighbor/state:/service[</a:t>
            </a:r>
            <a:r>
              <a:rPr lang="en-CA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service-id='411'</a:t>
            </a: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]/</a:t>
            </a:r>
            <a:r>
              <a:rPr lang="en-CA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bgp</a:t>
            </a: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/neighbor[</a:t>
            </a:r>
            <a:r>
              <a:rPr lang="en-CA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-address='10.41.1.2'] | (ASN 200) VR 7: </a:t>
            </a:r>
            <a:r>
              <a:rPr lang="en-CA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Group </a:t>
            </a:r>
            <a:r>
              <a:rPr lang="en-CA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toCE</a:t>
            </a:r>
            <a:r>
              <a:rPr lang="en-CA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Peer 10.41.1.2: being disabled because the interface is operationally disabled</a:t>
            </a:r>
          </a:p>
          <a:p>
            <a:pPr marL="0" indent="0">
              <a:buNone/>
            </a:pPr>
            <a:r>
              <a:rPr lang="en-CA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🚨</a:t>
            </a:r>
            <a:r>
              <a:rPr lang="en-CA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root_cause_fdns</a:t>
            </a:r>
            <a:r>
              <a:rPr lang="en-CA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=["fdn:app:mdm-ami-cmodel:2001::225:equipment:Equipment:/port[port-id='1/1/c2/1']"]🚨</a:t>
            </a:r>
          </a:p>
          <a:p>
            <a:pPr marL="0" indent="0">
              <a:buNone/>
            </a:pPr>
            <a:r>
              <a:rPr lang="en-CA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💡reasoning=The alarm 'Interface 1/1/c2/1 is not operational' is an equipment failure. The other alarms are likely caused by this failure. Therefore, the root cause is the interface failure.💡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AD8370-247C-C815-0F3E-B33C337D198A}"/>
              </a:ext>
            </a:extLst>
          </p:cNvPr>
          <p:cNvSpPr/>
          <p:nvPr/>
        </p:nvSpPr>
        <p:spPr>
          <a:xfrm>
            <a:off x="612647" y="4496586"/>
            <a:ext cx="10653579" cy="10369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43799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E2F07-2941-11A7-6DA3-0736B9294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48793-5534-D4D3-2163-6765F780A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RCA Agent</a:t>
            </a:r>
            <a:br>
              <a:rPr lang="en-US" dirty="0"/>
            </a:br>
            <a:r>
              <a:rPr lang="en-US" sz="1800" b="0" dirty="0"/>
              <a:t>Real Output #2</a:t>
            </a:r>
            <a:endParaRPr lang="en-CA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29786-0572-B06F-A1C1-A31927E5D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690178"/>
            <a:ext cx="10653579" cy="45938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gemini_alarms_rca_agent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receiving messages ...</a:t>
            </a:r>
            <a:endParaRPr lang="en-CA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2025-05-20T19:19:00.</a:t>
            </a:r>
            <a:r>
              <a:rPr lang="en-CA" sz="13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67300</a:t>
            </a: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5095Z | </a:t>
            </a:r>
            <a:r>
              <a:rPr lang="en-CA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sim234_236</a:t>
            </a: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| fdn:app:mdm-ami-cmodel:2001::236:/</a:t>
            </a:r>
            <a:r>
              <a:rPr lang="en-CA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openconfig-network-instance:network-instances</a:t>
            </a: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/network-instance/protocols/protocol/</a:t>
            </a:r>
            <a:r>
              <a:rPr lang="en-CA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bgp</a:t>
            </a: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/neighbors/neighbor/state:/router[router-name='Base']/</a:t>
            </a:r>
            <a:r>
              <a:rPr lang="en-CA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bgp</a:t>
            </a: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/neighbor[</a:t>
            </a:r>
            <a:r>
              <a:rPr lang="en-CA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-address='38.120.234.226'] | (ASN 200) VR 1: </a:t>
            </a:r>
            <a:r>
              <a:rPr lang="en-CA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Group iBGP: Peer 38.120.234.226: received notification: code CEASE subcode CONN_REJECT</a:t>
            </a:r>
          </a:p>
          <a:p>
            <a:pPr marL="0" indent="0">
              <a:buNone/>
            </a:pP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2025-05-20T19:19:30.</a:t>
            </a:r>
            <a:r>
              <a:rPr lang="en-CA" sz="13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67457</a:t>
            </a: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5549Z | </a:t>
            </a:r>
            <a:r>
              <a:rPr lang="en-CA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sim234_236</a:t>
            </a: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| fdn:app:mdm-ami-cmodel:2001::236:/</a:t>
            </a:r>
            <a:r>
              <a:rPr lang="en-CA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openconfig-network-instance:network-instances</a:t>
            </a: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/network-instance/protocols/protocol/</a:t>
            </a:r>
            <a:r>
              <a:rPr lang="en-CA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bgp</a:t>
            </a: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/neighbors/neighbor/state:/router[router-name='Base']/</a:t>
            </a:r>
            <a:r>
              <a:rPr lang="en-CA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bgp</a:t>
            </a: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/neighbor[</a:t>
            </a:r>
            <a:r>
              <a:rPr lang="en-CA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-address='38.120.234.226'] | (ASN 200) VR 1: </a:t>
            </a:r>
            <a:r>
              <a:rPr lang="en-CA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Group iBGP: Peer 38.120.234.226: received notification: code CEASE subcode CONN_REJECT</a:t>
            </a:r>
            <a:endParaRPr lang="en-CA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CA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🚨</a:t>
            </a:r>
            <a:r>
              <a:rPr lang="en-CA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root_cause_fdns</a:t>
            </a:r>
            <a:r>
              <a:rPr lang="en-CA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=['indeterminate']🚨</a:t>
            </a:r>
          </a:p>
          <a:p>
            <a:pPr marL="0" indent="0">
              <a:buNone/>
            </a:pPr>
            <a:r>
              <a:rPr lang="en-CA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💡reasoning=The BGP peer received a connection reject notification. This may be due to misconfiguration or an issue with the peer itself. Since there is no indication of a local equipment failure, the root cause is indeterminate.💡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90C3AC-D2A1-C52F-CF5F-E34550216D44}"/>
              </a:ext>
            </a:extLst>
          </p:cNvPr>
          <p:cNvSpPr/>
          <p:nvPr/>
        </p:nvSpPr>
        <p:spPr>
          <a:xfrm>
            <a:off x="612646" y="4646373"/>
            <a:ext cx="10653579" cy="11322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8164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BB5CC-F58F-2C29-D9A2-6268B9AEA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RCA Agent</a:t>
            </a:r>
            <a:br>
              <a:rPr lang="en-US" dirty="0"/>
            </a:br>
            <a:r>
              <a:rPr lang="en-US" sz="1800" b="0" dirty="0"/>
              <a:t>Real Output #3</a:t>
            </a:r>
            <a:endParaRPr lang="en-CA" sz="1800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84133-0E23-BD47-9400-E77897D08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715532"/>
            <a:ext cx="10653579" cy="459382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CA" sz="4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gemini_alarms_rca_agent</a:t>
            </a:r>
            <a:r>
              <a:rPr lang="en-CA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 receiving messages ...</a:t>
            </a:r>
          </a:p>
          <a:p>
            <a:pPr marL="0" indent="0">
              <a:buNone/>
            </a:pPr>
            <a:r>
              <a:rPr lang="en-CA" sz="5200" dirty="0">
                <a:latin typeface="Courier New" panose="02070309020205020404" pitchFamily="49" charset="0"/>
                <a:cs typeface="Courier New" panose="02070309020205020404" pitchFamily="49" charset="0"/>
              </a:rPr>
              <a:t>2025-05-20T19:49:34.586033743Z | </a:t>
            </a:r>
            <a:r>
              <a:rPr lang="en-CA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sim234_225</a:t>
            </a:r>
            <a:r>
              <a:rPr lang="en-CA" sz="5200" dirty="0">
                <a:latin typeface="Courier New" panose="02070309020205020404" pitchFamily="49" charset="0"/>
                <a:cs typeface="Courier New" panose="02070309020205020404" pitchFamily="49" charset="0"/>
              </a:rPr>
              <a:t> | fdn:app:mdm-ami-cmodel:2001::225:/</a:t>
            </a:r>
            <a:r>
              <a:rPr lang="en-CA" sz="5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openconfig-network-instance:network-instances</a:t>
            </a:r>
            <a:r>
              <a:rPr lang="en-CA" sz="5200" dirty="0">
                <a:latin typeface="Courier New" panose="02070309020205020404" pitchFamily="49" charset="0"/>
                <a:cs typeface="Courier New" panose="02070309020205020404" pitchFamily="49" charset="0"/>
              </a:rPr>
              <a:t>/network-instance/interfaces/interface:/router[router-name='Base']/interface[</a:t>
            </a:r>
            <a:r>
              <a:rPr lang="en-CA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interface-name='toSR236'</a:t>
            </a:r>
            <a:r>
              <a:rPr lang="en-CA" sz="5200" dirty="0">
                <a:latin typeface="Courier New" panose="02070309020205020404" pitchFamily="49" charset="0"/>
                <a:cs typeface="Courier New" panose="02070309020205020404" pitchFamily="49" charset="0"/>
              </a:rPr>
              <a:t>] | </a:t>
            </a:r>
            <a:r>
              <a:rPr lang="en-CA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toSR236 is not operational</a:t>
            </a:r>
          </a:p>
          <a:p>
            <a:pPr marL="0" indent="0">
              <a:buNone/>
            </a:pPr>
            <a:r>
              <a:rPr lang="en-CA" sz="5200" dirty="0">
                <a:latin typeface="Courier New" panose="02070309020205020404" pitchFamily="49" charset="0"/>
                <a:cs typeface="Courier New" panose="02070309020205020404" pitchFamily="49" charset="0"/>
              </a:rPr>
              <a:t>2025-05-20T19:49:34.586318210Z | </a:t>
            </a:r>
            <a:r>
              <a:rPr lang="en-CA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sim234_225</a:t>
            </a:r>
            <a:r>
              <a:rPr lang="en-CA" sz="5200" dirty="0">
                <a:latin typeface="Courier New" panose="02070309020205020404" pitchFamily="49" charset="0"/>
                <a:cs typeface="Courier New" panose="02070309020205020404" pitchFamily="49" charset="0"/>
              </a:rPr>
              <a:t> | fdn:app:mdm-ami-cmodel:2001::225:equipment:Equipment:/port[</a:t>
            </a:r>
            <a:r>
              <a:rPr lang="en-CA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port-id='1/1/c3/1'</a:t>
            </a:r>
            <a:r>
              <a:rPr lang="en-CA" sz="5200" dirty="0">
                <a:latin typeface="Courier New" panose="02070309020205020404" pitchFamily="49" charset="0"/>
                <a:cs typeface="Courier New" panose="02070309020205020404" pitchFamily="49" charset="0"/>
              </a:rPr>
              <a:t>] | </a:t>
            </a:r>
            <a:r>
              <a:rPr lang="en-CA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1/1/c3/1 is not operational</a:t>
            </a:r>
          </a:p>
          <a:p>
            <a:pPr marL="0" indent="0">
              <a:buNone/>
            </a:pPr>
            <a:r>
              <a:rPr lang="en-CA" sz="5200" dirty="0">
                <a:latin typeface="Courier New" panose="02070309020205020404" pitchFamily="49" charset="0"/>
                <a:cs typeface="Courier New" panose="02070309020205020404" pitchFamily="49" charset="0"/>
              </a:rPr>
              <a:t>2025-05-20T19:49:34.603975148Z | </a:t>
            </a:r>
            <a:r>
              <a:rPr lang="en-CA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sim234_225</a:t>
            </a:r>
            <a:r>
              <a:rPr lang="en-CA" sz="5200" dirty="0">
                <a:latin typeface="Courier New" panose="02070309020205020404" pitchFamily="49" charset="0"/>
                <a:cs typeface="Courier New" panose="02070309020205020404" pitchFamily="49" charset="0"/>
              </a:rPr>
              <a:t> | fdn:app:mdm-ami-cmodel:2001::225:/</a:t>
            </a:r>
            <a:r>
              <a:rPr lang="en-CA" sz="5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openconfig-network-instance:network-instances</a:t>
            </a:r>
            <a:r>
              <a:rPr lang="en-CA" sz="5200" dirty="0">
                <a:latin typeface="Courier New" panose="02070309020205020404" pitchFamily="49" charset="0"/>
                <a:cs typeface="Courier New" panose="02070309020205020404" pitchFamily="49" charset="0"/>
              </a:rPr>
              <a:t>/network-instance/interfaces/interface:/router[router-name='Base']/interface[</a:t>
            </a:r>
            <a:r>
              <a:rPr lang="en-CA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interface-name='toSR236'</a:t>
            </a:r>
            <a:r>
              <a:rPr lang="en-CA" sz="5200" dirty="0">
                <a:latin typeface="Courier New" panose="02070309020205020404" pitchFamily="49" charset="0"/>
                <a:cs typeface="Courier New" panose="02070309020205020404" pitchFamily="49" charset="0"/>
              </a:rPr>
              <a:t>] | </a:t>
            </a:r>
            <a:r>
              <a:rPr lang="en-CA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BFD: Local Discriminator 49224 BFD session on node 10.225.236.2 is down due to </a:t>
            </a:r>
            <a:r>
              <a:rPr lang="en-CA" sz="5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pathDown</a:t>
            </a:r>
            <a:r>
              <a:rPr lang="en-CA" sz="5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CA" sz="5200" dirty="0">
                <a:latin typeface="Courier New" panose="02070309020205020404" pitchFamily="49" charset="0"/>
                <a:cs typeface="Courier New" panose="02070309020205020404" pitchFamily="49" charset="0"/>
              </a:rPr>
              <a:t>2025-05-20T19:49:34.681534008Z | </a:t>
            </a:r>
            <a:r>
              <a:rPr lang="en-CA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sim234_225</a:t>
            </a:r>
            <a:r>
              <a:rPr lang="en-CA" sz="5200" dirty="0">
                <a:latin typeface="Courier New" panose="02070309020205020404" pitchFamily="49" charset="0"/>
                <a:cs typeface="Courier New" panose="02070309020205020404" pitchFamily="49" charset="0"/>
              </a:rPr>
              <a:t> | fdn:app:mdm-ami-cmodel:2001::225:mpls:Mpls:/router[router-name='Base']/</a:t>
            </a:r>
            <a:r>
              <a:rPr lang="en-CA" sz="5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mpls</a:t>
            </a:r>
            <a:r>
              <a:rPr lang="en-CA" sz="5200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CA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toSR236 is in administrative state: </a:t>
            </a:r>
            <a:r>
              <a:rPr lang="en-CA" sz="5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inService</a:t>
            </a:r>
            <a:r>
              <a:rPr lang="en-CA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operational state: </a:t>
            </a:r>
            <a:r>
              <a:rPr lang="en-CA" sz="5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outOfService</a:t>
            </a:r>
            <a:endParaRPr lang="en-CA" sz="5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CA" sz="5200" dirty="0">
                <a:latin typeface="Courier New" panose="02070309020205020404" pitchFamily="49" charset="0"/>
                <a:cs typeface="Courier New" panose="02070309020205020404" pitchFamily="49" charset="0"/>
              </a:rPr>
              <a:t>2025-05-20T19:49:34.713502330Z | </a:t>
            </a:r>
            <a:r>
              <a:rPr lang="en-CA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sim234_225</a:t>
            </a:r>
            <a:r>
              <a:rPr lang="en-CA" sz="5200" dirty="0">
                <a:latin typeface="Courier New" panose="02070309020205020404" pitchFamily="49" charset="0"/>
                <a:cs typeface="Courier New" panose="02070309020205020404" pitchFamily="49" charset="0"/>
              </a:rPr>
              <a:t> | fdn:app:mdm-ami-cmodel:2001::225:rsvp:Rsvp:/router[router-name='Base']/</a:t>
            </a:r>
            <a:r>
              <a:rPr lang="en-CA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rsvp/interface[interface-name='toSR236']/neighbor[</a:t>
            </a:r>
            <a:r>
              <a:rPr lang="en-CA" sz="5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CA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-address='10.225.236.2']</a:t>
            </a:r>
            <a:r>
              <a:rPr lang="en-CA" sz="5200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CA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Neighbor 10.225.236.2 on interface toSR236 changed to inactive state because </a:t>
            </a:r>
            <a:r>
              <a:rPr lang="en-CA" sz="5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linkDown</a:t>
            </a:r>
            <a:endParaRPr lang="en-CA" sz="5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CA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🚨</a:t>
            </a:r>
            <a:r>
              <a:rPr lang="en-CA" sz="5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root_cause_fdns</a:t>
            </a:r>
            <a:r>
              <a:rPr lang="en-CA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=["fdn:app:mdm-ami-cmodel:2001::225:equipment:Equipment:/port[port-id='1/1/c3/1']"]🚨</a:t>
            </a:r>
          </a:p>
          <a:p>
            <a:pPr marL="0" indent="0">
              <a:buNone/>
            </a:pPr>
            <a:r>
              <a:rPr lang="en-CA" sz="5200" b="1" dirty="0">
                <a:latin typeface="Courier New" panose="02070309020205020404" pitchFamily="49" charset="0"/>
                <a:cs typeface="Courier New" panose="02070309020205020404" pitchFamily="49" charset="0"/>
              </a:rPr>
              <a:t>💡reasoning=The alarm indicating that interface 1/1/c3/1 is not operational is likely the root cause. This is an equipment failure, and the other alarms related to toSR236 not being operational can be triggered by this.💡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1A921F-E1C8-1731-B9F3-E8AD4A03B1CB}"/>
              </a:ext>
            </a:extLst>
          </p:cNvPr>
          <p:cNvSpPr/>
          <p:nvPr/>
        </p:nvSpPr>
        <p:spPr>
          <a:xfrm>
            <a:off x="546659" y="5599522"/>
            <a:ext cx="10653579" cy="10369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7061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21104-549B-B215-DA61-FB94FC6A9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594B6-7B08-2012-784D-A03B72AE9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Actor</a:t>
            </a:r>
            <a:endParaRPr lang="en-CA" sz="1800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1E488-058B-80CD-3473-0C0FB0872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>
                <a:cs typeface="Courier New" panose="02070309020205020404" pitchFamily="49" charset="0"/>
              </a:rPr>
              <a:t>Which application shall consume the RCA output?</a:t>
            </a:r>
          </a:p>
          <a:p>
            <a:pPr lvl="1"/>
            <a:r>
              <a:rPr lang="en-CA" dirty="0">
                <a:cs typeface="Courier New" panose="02070309020205020404" pitchFamily="49" charset="0"/>
              </a:rPr>
              <a:t>Enhance NSP FM application?</a:t>
            </a:r>
          </a:p>
          <a:p>
            <a:pPr lvl="2"/>
            <a:r>
              <a:rPr lang="en-CA" dirty="0">
                <a:cs typeface="Courier New" panose="02070309020205020404" pitchFamily="49" charset="0"/>
              </a:rPr>
              <a:t>New API for Agent to </a:t>
            </a:r>
            <a:r>
              <a:rPr lang="en-CA" i="1" dirty="0">
                <a:cs typeface="Courier New" panose="02070309020205020404" pitchFamily="49" charset="0"/>
              </a:rPr>
              <a:t>set</a:t>
            </a:r>
            <a:r>
              <a:rPr lang="en-CA" dirty="0">
                <a:cs typeface="Courier New" panose="02070309020205020404" pitchFamily="49" charset="0"/>
              </a:rPr>
              <a:t> relationship between alarms:</a:t>
            </a:r>
          </a:p>
          <a:p>
            <a:pPr lvl="3"/>
            <a:r>
              <a:rPr lang="en-CA" dirty="0" err="1">
                <a:cs typeface="Courier New" panose="02070309020205020404" pitchFamily="49" charset="0"/>
              </a:rPr>
              <a:t>ReSTConf</a:t>
            </a:r>
            <a:r>
              <a:rPr lang="en-CA" dirty="0">
                <a:cs typeface="Courier New" panose="02070309020205020404" pitchFamily="49" charset="0"/>
              </a:rPr>
              <a:t> (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patch/post</a:t>
            </a:r>
            <a:r>
              <a:rPr lang="en-CA" dirty="0">
                <a:cs typeface="Courier New" panose="02070309020205020404" pitchFamily="49" charset="0"/>
              </a:rPr>
              <a:t>) API to specify that the root-cause of Alarm </a:t>
            </a:r>
            <a:r>
              <a:rPr lang="en-CA" i="1" dirty="0">
                <a:cs typeface="Courier New" panose="02070309020205020404" pitchFamily="49" charset="0"/>
              </a:rPr>
              <a:t>X </a:t>
            </a:r>
            <a:r>
              <a:rPr lang="en-CA" dirty="0">
                <a:cs typeface="Courier New" panose="02070309020205020404" pitchFamily="49" charset="0"/>
              </a:rPr>
              <a:t>is Alarm </a:t>
            </a:r>
            <a:r>
              <a:rPr lang="en-CA" i="1" dirty="0">
                <a:cs typeface="Courier New" panose="02070309020205020404" pitchFamily="49" charset="0"/>
              </a:rPr>
              <a:t>Y</a:t>
            </a:r>
          </a:p>
          <a:p>
            <a:pPr lvl="1"/>
            <a:r>
              <a:rPr lang="en-CA" dirty="0">
                <a:cs typeface="Courier New" panose="02070309020205020404" pitchFamily="49" charset="0"/>
              </a:rPr>
              <a:t>Enhance NBI Kafka for OSS consumption?</a:t>
            </a:r>
          </a:p>
          <a:p>
            <a:pPr lvl="2"/>
            <a:r>
              <a:rPr lang="en-CA" dirty="0">
                <a:cs typeface="Courier New" panose="02070309020205020404" pitchFamily="49" charset="0"/>
              </a:rPr>
              <a:t> </a:t>
            </a:r>
            <a:r>
              <a:rPr lang="en-CA" dirty="0"/>
              <a:t>New Kafka topic = NSP-FAULT-RCA-YANG</a:t>
            </a:r>
          </a:p>
          <a:p>
            <a:pPr lvl="3"/>
            <a:r>
              <a:rPr lang="en-CA" dirty="0">
                <a:cs typeface="Courier New" panose="02070309020205020404" pitchFamily="49" charset="0"/>
              </a:rPr>
              <a:t>An Alarms OSS would subscribe to </a:t>
            </a:r>
            <a:r>
              <a:rPr lang="en-CA" dirty="0"/>
              <a:t>NSP-FAULT-YANG  and NSP-FAULT-RCA-YANG</a:t>
            </a:r>
            <a:endParaRPr lang="en-CA" dirty="0">
              <a:cs typeface="Courier New" panose="02070309020205020404" pitchFamily="49" charset="0"/>
            </a:endParaRPr>
          </a:p>
          <a:p>
            <a:pPr marL="228600" lvl="1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 descr="A cartoon of a person with a light bulb above his head&#10;&#10;AI-generated content may be incorrect.">
            <a:extLst>
              <a:ext uri="{FF2B5EF4-FFF2-40B4-BE49-F238E27FC236}">
                <a16:creationId xmlns:a16="http://schemas.microsoft.com/office/drawing/2014/main" id="{4FAAC2D4-68CF-6E6C-99D9-45DFFF6AE4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689313" y="548640"/>
            <a:ext cx="1009516" cy="100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52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EAACB-A463-0DE9-AF5E-4C3FE6B9D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21A2D-29BB-4258-4A2F-93F3FE1C0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Improvement</a:t>
            </a:r>
            <a:br>
              <a:rPr lang="en-US" dirty="0"/>
            </a:br>
            <a:r>
              <a:rPr lang="en-US" sz="1800" b="0" dirty="0"/>
              <a:t>Slide 1 of 2</a:t>
            </a:r>
            <a:endParaRPr lang="en-CA" sz="1800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4C06B-6224-6F5E-86E3-BAF5941FB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cs typeface="Courier New" panose="02070309020205020404" pitchFamily="49" charset="0"/>
              </a:rPr>
              <a:t>v1 -&gt; </a:t>
            </a:r>
            <a:r>
              <a:rPr lang="en-US" b="1" dirty="0">
                <a:cs typeface="Courier New" panose="02070309020205020404" pitchFamily="49" charset="0"/>
              </a:rPr>
              <a:t>v2</a:t>
            </a:r>
          </a:p>
          <a:p>
            <a:pPr lvl="1"/>
            <a:r>
              <a:rPr lang="en-US" b="1" dirty="0">
                <a:cs typeface="Courier New" panose="02070309020205020404" pitchFamily="49" charset="0"/>
              </a:rPr>
              <a:t>Added</a:t>
            </a:r>
            <a:r>
              <a:rPr lang="en-US" dirty="0">
                <a:cs typeface="Courier New" panose="02070309020205020404" pitchFamily="49" charset="0"/>
              </a:rPr>
              <a:t> subscription-monitor daemon</a:t>
            </a:r>
          </a:p>
          <a:p>
            <a:pPr lvl="2"/>
            <a:r>
              <a:rPr lang="en-US" dirty="0">
                <a:cs typeface="Courier New" panose="02070309020205020404" pitchFamily="49" charset="0"/>
              </a:rPr>
              <a:t>auto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renew-subscription()</a:t>
            </a:r>
            <a:endParaRPr lang="en-US" dirty="0">
              <a:cs typeface="Courier New" panose="02070309020205020404" pitchFamily="49" charset="0"/>
            </a:endParaRPr>
          </a:p>
          <a:p>
            <a:pPr lvl="3"/>
            <a:r>
              <a:rPr lang="en-US" dirty="0">
                <a:cs typeface="Courier New" panose="02070309020205020404" pitchFamily="49" charset="0"/>
              </a:rPr>
              <a:t>Because NSP subscriptions last for a maximum of 1 hour</a:t>
            </a:r>
          </a:p>
          <a:p>
            <a:r>
              <a:rPr lang="en-US" dirty="0">
                <a:cs typeface="Courier New" panose="02070309020205020404" pitchFamily="49" charset="0"/>
              </a:rPr>
              <a:t>v2 -&gt; </a:t>
            </a:r>
            <a:r>
              <a:rPr lang="en-US" b="1" dirty="0">
                <a:cs typeface="Courier New" panose="02070309020205020404" pitchFamily="49" charset="0"/>
              </a:rPr>
              <a:t>v3</a:t>
            </a:r>
          </a:p>
          <a:p>
            <a:pPr lvl="1"/>
            <a:r>
              <a:rPr lang="en-US" b="1" dirty="0">
                <a:cs typeface="Courier New" panose="02070309020205020404" pitchFamily="49" charset="0"/>
              </a:rPr>
              <a:t>Added </a:t>
            </a:r>
            <a:r>
              <a:rPr lang="en-US" dirty="0" err="1">
                <a:cs typeface="Courier New" panose="02070309020205020404" pitchFamily="49" charset="0"/>
              </a:rPr>
              <a:t>ReAct</a:t>
            </a:r>
            <a:r>
              <a:rPr lang="en-US" dirty="0">
                <a:cs typeface="Courier New" panose="02070309020205020404" pitchFamily="49" charset="0"/>
              </a:rPr>
              <a:t> tools</a:t>
            </a:r>
          </a:p>
          <a:p>
            <a:pPr lvl="1"/>
            <a:r>
              <a:rPr lang="en-US" b="1" dirty="0">
                <a:cs typeface="Courier New" panose="02070309020205020404" pitchFamily="49" charset="0"/>
              </a:rPr>
              <a:t>Added </a:t>
            </a:r>
            <a:r>
              <a:rPr lang="en-US" dirty="0">
                <a:cs typeface="Courier New" panose="02070309020205020404" pitchFamily="49" charset="0"/>
              </a:rPr>
              <a:t>logging</a:t>
            </a:r>
          </a:p>
          <a:p>
            <a:pPr lvl="1"/>
            <a:r>
              <a:rPr lang="en-US" b="1" dirty="0">
                <a:cs typeface="Courier New" panose="02070309020205020404" pitchFamily="49" charset="0"/>
              </a:rPr>
              <a:t>Added</a:t>
            </a:r>
            <a:r>
              <a:rPr lang="en-US" dirty="0">
                <a:cs typeface="Courier New" panose="02070309020205020404" pitchFamily="49" charset="0"/>
              </a:rPr>
              <a:t> MV support (ongoing)</a:t>
            </a:r>
          </a:p>
          <a:p>
            <a:r>
              <a:rPr lang="en-US" dirty="0">
                <a:cs typeface="Courier New" panose="02070309020205020404" pitchFamily="49" charset="0"/>
              </a:rPr>
              <a:t>v3 -&gt; </a:t>
            </a:r>
            <a:r>
              <a:rPr lang="en-US" b="1" dirty="0">
                <a:cs typeface="Courier New" panose="02070309020205020404" pitchFamily="49" charset="0"/>
              </a:rPr>
              <a:t>v4</a:t>
            </a:r>
          </a:p>
          <a:p>
            <a:pPr lvl="1"/>
            <a:r>
              <a:rPr lang="en-US" b="1" dirty="0">
                <a:cs typeface="Courier New" panose="02070309020205020404" pitchFamily="49" charset="0"/>
              </a:rPr>
              <a:t>Added </a:t>
            </a:r>
            <a:r>
              <a:rPr lang="en-US" dirty="0">
                <a:cs typeface="Courier New" panose="02070309020205020404" pitchFamily="49" charset="0"/>
              </a:rPr>
              <a:t>support for orphan alarms</a:t>
            </a:r>
          </a:p>
          <a:p>
            <a:pPr lvl="2"/>
            <a:r>
              <a:rPr lang="en-US" dirty="0">
                <a:cs typeface="Courier New" panose="02070309020205020404" pitchFamily="49" charset="0"/>
              </a:rPr>
              <a:t>Laying groundwork for </a:t>
            </a:r>
            <a:r>
              <a:rPr lang="en-US" i="1" dirty="0">
                <a:cs typeface="Courier New" panose="02070309020205020404" pitchFamily="49" charset="0"/>
              </a:rPr>
              <a:t>joining</a:t>
            </a:r>
            <a:r>
              <a:rPr lang="en-US" dirty="0">
                <a:cs typeface="Courier New" panose="02070309020205020404" pitchFamily="49" charset="0"/>
              </a:rPr>
              <a:t> sliding-windows (see </a:t>
            </a:r>
            <a:r>
              <a:rPr lang="en-US" i="1" dirty="0">
                <a:cs typeface="Courier New" panose="02070309020205020404" pitchFamily="49" charset="0"/>
              </a:rPr>
              <a:t>Future Enhancements </a:t>
            </a:r>
            <a:r>
              <a:rPr lang="en-US" dirty="0">
                <a:cs typeface="Courier New" panose="02070309020205020404" pitchFamily="49" charset="0"/>
              </a:rPr>
              <a:t>section)</a:t>
            </a:r>
          </a:p>
          <a:p>
            <a:pPr lvl="1"/>
            <a:r>
              <a:rPr lang="en-US" b="1" dirty="0">
                <a:cs typeface="Courier New" panose="02070309020205020404" pitchFamily="49" charset="0"/>
              </a:rPr>
              <a:t>Hide </a:t>
            </a:r>
            <a:r>
              <a:rPr lang="en-US" dirty="0">
                <a:cs typeface="Courier New" panose="02070309020205020404" pitchFamily="49" charset="0"/>
              </a:rPr>
              <a:t>Gemini API key</a:t>
            </a:r>
          </a:p>
        </p:txBody>
      </p:sp>
    </p:spTree>
    <p:extLst>
      <p:ext uri="{BB962C8B-B14F-4D97-AF65-F5344CB8AC3E}">
        <p14:creationId xmlns:p14="http://schemas.microsoft.com/office/powerpoint/2010/main" val="8953610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BCA3B-383B-6D93-747E-7E35C0BE5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hatbot&#10;&#10;AI-generated content may be incorrect.">
            <a:extLst>
              <a:ext uri="{FF2B5EF4-FFF2-40B4-BE49-F238E27FC236}">
                <a16:creationId xmlns:a16="http://schemas.microsoft.com/office/drawing/2014/main" id="{C94EF39B-4333-814E-96E8-545265B2BE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0876" y="2618738"/>
            <a:ext cx="5963920" cy="44729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2F6698-722B-3B1F-42CB-B3279EB3C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Improvement</a:t>
            </a:r>
            <a:br>
              <a:rPr lang="en-US" dirty="0"/>
            </a:br>
            <a:r>
              <a:rPr lang="en-US" sz="1800" b="0" dirty="0"/>
              <a:t>Slide 2 of 2</a:t>
            </a:r>
            <a:endParaRPr lang="en-CA" sz="1800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129A4-5DA8-E896-F76D-DE31742B9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v4 -&gt; </a:t>
            </a:r>
            <a:r>
              <a:rPr lang="en-US" b="1" dirty="0">
                <a:cs typeface="Courier New" panose="02070309020205020404" pitchFamily="49" charset="0"/>
              </a:rPr>
              <a:t>v5</a:t>
            </a:r>
          </a:p>
          <a:p>
            <a:pPr lvl="1"/>
            <a:r>
              <a:rPr lang="en-US" b="1" dirty="0">
                <a:cs typeface="Courier New" panose="02070309020205020404" pitchFamily="49" charset="0"/>
              </a:rPr>
              <a:t>Added </a:t>
            </a:r>
            <a:r>
              <a:rPr lang="en-US" dirty="0">
                <a:cs typeface="Courier New" panose="02070309020205020404" pitchFamily="49" charset="0"/>
              </a:rPr>
              <a:t>RAG to store vendor/OS/chassis alarms documentation</a:t>
            </a:r>
          </a:p>
          <a:p>
            <a:r>
              <a:rPr lang="en-US" dirty="0">
                <a:cs typeface="Courier New" panose="02070309020205020404" pitchFamily="49" charset="0"/>
              </a:rPr>
              <a:t>v5 -&gt; </a:t>
            </a:r>
            <a:r>
              <a:rPr lang="en-US" b="1" dirty="0">
                <a:cs typeface="Courier New" panose="02070309020205020404" pitchFamily="49" charset="0"/>
              </a:rPr>
              <a:t>v6</a:t>
            </a:r>
          </a:p>
          <a:p>
            <a:pPr lvl="1"/>
            <a:r>
              <a:rPr lang="en-US" b="1" dirty="0">
                <a:cs typeface="Courier New" panose="02070309020205020404" pitchFamily="49" charset="0"/>
              </a:rPr>
              <a:t>Added </a:t>
            </a:r>
            <a:r>
              <a:rPr lang="en-US" dirty="0" err="1">
                <a:cs typeface="Courier New" panose="02070309020205020404" pitchFamily="49" charset="0"/>
              </a:rPr>
              <a:t>LangGraph</a:t>
            </a:r>
            <a:r>
              <a:rPr lang="en-US" dirty="0">
                <a:cs typeface="Courier New" panose="02070309020205020404" pitchFamily="49" charset="0"/>
              </a:rPr>
              <a:t> to support multi-turn </a:t>
            </a:r>
            <a:r>
              <a:rPr lang="en-US" dirty="0" err="1">
                <a:cs typeface="Courier New" panose="02070309020205020404" pitchFamily="49" charset="0"/>
              </a:rPr>
              <a:t>ReAct</a:t>
            </a:r>
            <a:r>
              <a:rPr lang="en-US" dirty="0">
                <a:cs typeface="Courier New" panose="02070309020205020404" pitchFamily="49" charset="0"/>
              </a:rPr>
              <a:t> loops </a:t>
            </a:r>
            <a:r>
              <a:rPr lang="en-US">
                <a:cs typeface="Courier New" panose="02070309020205020404" pitchFamily="49" charset="0"/>
              </a:rPr>
              <a:t>(ongoing)</a:t>
            </a:r>
            <a:endParaRPr lang="en-US" b="1" dirty="0">
              <a:cs typeface="Courier New" panose="02070309020205020404" pitchFamily="49" charset="0"/>
            </a:endParaRPr>
          </a:p>
          <a:p>
            <a:endParaRPr lang="en-US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257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D3A8D-8048-8414-2DF1-8B1B5ED16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209EA-4290-6B82-73C7-C868E33CC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Enhancements</a:t>
            </a:r>
            <a:br>
              <a:rPr lang="en-US" dirty="0"/>
            </a:br>
            <a:r>
              <a:rPr lang="en-US" sz="1800" b="0" dirty="0"/>
              <a:t>Slide 1 of 3</a:t>
            </a:r>
            <a:endParaRPr lang="en-CA" sz="1800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CA79F-8556-06EC-E406-437D67C2E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Current implementation analyzes alarms raised within a </a:t>
            </a:r>
            <a:r>
              <a:rPr lang="en-US" i="1" dirty="0"/>
              <a:t>sliding</a:t>
            </a:r>
            <a:r>
              <a:rPr lang="en-US" dirty="0"/>
              <a:t> 5s window. </a:t>
            </a:r>
          </a:p>
          <a:p>
            <a:pPr lvl="1"/>
            <a:r>
              <a:rPr lang="en-US" dirty="0"/>
              <a:t>Issue: If a ‘card-down’ failure was reported </a:t>
            </a:r>
            <a:r>
              <a:rPr lang="en-US" u="sng" dirty="0"/>
              <a:t>at the end</a:t>
            </a:r>
            <a:r>
              <a:rPr lang="en-US" dirty="0"/>
              <a:t> of the </a:t>
            </a:r>
            <a:r>
              <a:rPr lang="en-US" i="1" dirty="0"/>
              <a:t>penultimate</a:t>
            </a:r>
            <a:r>
              <a:rPr lang="en-US" dirty="0"/>
              <a:t> 5s window, and consequent ‘port-down’ alarms were reported in the </a:t>
            </a:r>
            <a:r>
              <a:rPr lang="en-US" i="1" dirty="0"/>
              <a:t>next</a:t>
            </a:r>
            <a:r>
              <a:rPr lang="en-US" dirty="0"/>
              <a:t> 5s window, the RCA-Agent will correctly identify the ‘card-down’ as the root-cause, </a:t>
            </a:r>
            <a:r>
              <a:rPr lang="en-US" i="1" dirty="0"/>
              <a:t>but also </a:t>
            </a:r>
            <a:r>
              <a:rPr lang="en-US" dirty="0"/>
              <a:t>incorrectly identify the ‘port-down’ alarms as root-causes because the ‘port-down’ alarms are the </a:t>
            </a:r>
            <a:r>
              <a:rPr lang="en-US" u="sng" dirty="0"/>
              <a:t>highest-level</a:t>
            </a:r>
            <a:r>
              <a:rPr lang="en-US" dirty="0"/>
              <a:t> alarms in the current window</a:t>
            </a:r>
          </a:p>
          <a:p>
            <a:pPr lvl="3"/>
            <a:r>
              <a:rPr lang="en-US" i="1" dirty="0"/>
              <a:t>Solution: Concatenate</a:t>
            </a:r>
            <a:r>
              <a:rPr lang="en-US" dirty="0"/>
              <a:t> alarms from current window with alarms from prior window; perform RCA on the combination</a:t>
            </a:r>
          </a:p>
          <a:p>
            <a:pPr marL="1433513" lvl="5" indent="-271463"/>
            <a:r>
              <a:rPr lang="en-US" sz="1000" dirty="0"/>
              <a:t>Assumes that 2 x 5s = 10s window is big enough (it likely is; this will be an improvement over the current single 5s window)</a:t>
            </a:r>
          </a:p>
          <a:p>
            <a:pPr marL="1890713" lvl="6" indent="-271463"/>
            <a:r>
              <a:rPr lang="en-US" sz="1000" b="1" dirty="0"/>
              <a:t>Additional enhancement: Adjustable window size</a:t>
            </a:r>
            <a:endParaRPr lang="en-CA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1988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2C51D-CB9B-02A6-CDD3-D8A1DD0F3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56277-DE82-7451-F08D-8D53443B8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Enhancements</a:t>
            </a:r>
            <a:br>
              <a:rPr lang="en-US" dirty="0"/>
            </a:br>
            <a:r>
              <a:rPr lang="en-US" sz="1800" b="0" dirty="0"/>
              <a:t>Slide 2 of 3</a:t>
            </a:r>
            <a:endParaRPr lang="en-CA" sz="1800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EC0CE-F1B7-D943-6F03-69FDCCCFE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CA" dirty="0">
                <a:cs typeface="Courier New" panose="02070309020205020404" pitchFamily="49" charset="0"/>
              </a:rPr>
              <a:t>Inter-NE alarm correlation e.g.</a:t>
            </a:r>
          </a:p>
          <a:p>
            <a:pPr marL="0" indent="0">
              <a:buNone/>
            </a:pP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2025-05-20T19:49:34.586318210Z | </a:t>
            </a:r>
            <a:r>
              <a:rPr lang="en-CA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sim234_225</a:t>
            </a: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| fdn:app:mdm-ami-cmodel:2001::225:equipment:Equipment:/port[</a:t>
            </a:r>
            <a:r>
              <a:rPr lang="en-CA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port-id='1/1/c3/1'</a:t>
            </a: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] | </a:t>
            </a:r>
            <a:r>
              <a:rPr lang="en-CA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1/1/c3/1 is administratively shutdown</a:t>
            </a:r>
            <a:endParaRPr lang="en-CA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2025-05-20T19:49:34.586412210Z | </a:t>
            </a:r>
            <a:r>
              <a:rPr lang="en-CA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sim234_225</a:t>
            </a: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| fdn:app:mdm-ami-cmodel:2001::225:equipment:Equipment:/port[</a:t>
            </a:r>
            <a:r>
              <a:rPr lang="en-CA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port-id='1/1/c3/1'</a:t>
            </a: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] | </a:t>
            </a:r>
            <a:r>
              <a:rPr lang="en-CA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1/1/c3/1 is not operational</a:t>
            </a:r>
          </a:p>
          <a:p>
            <a:pPr marL="0" indent="0">
              <a:buNone/>
            </a:pP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2025-05-20T19:49:34.606318810Z | </a:t>
            </a:r>
            <a:r>
              <a:rPr lang="en-CA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sim234_236</a:t>
            </a: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| fdn:app:mdm-ami-cmodel:2001::225:equipment:Equipment:/port[</a:t>
            </a:r>
            <a:r>
              <a:rPr lang="en-CA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port-id='1/1/c3/1'</a:t>
            </a: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] | </a:t>
            </a:r>
            <a:r>
              <a:rPr lang="en-CA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1/1/c3/1 is not operational</a:t>
            </a:r>
          </a:p>
          <a:p>
            <a:pPr marL="0" indent="0">
              <a:buNone/>
            </a:pP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🚨</a:t>
            </a:r>
            <a:r>
              <a:rPr lang="en-CA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root_cause_fdns</a:t>
            </a:r>
            <a:r>
              <a:rPr lang="en-CA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=["fdn:app:mdm-ami-cmodel:2001::225:equipment:Equipment:/port[port-id='1/1/c3/1']"]🚨</a:t>
            </a:r>
          </a:p>
          <a:p>
            <a:pPr marL="0" indent="0">
              <a:buNone/>
            </a:pPr>
            <a:r>
              <a:rPr lang="en-CA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💡reasoning=sim234_225 interface 1/1/c3/1 is down because it is shutdown. Because sim234_225 interface 1/1/c3/1 is physically connected to sim234_236 interface 1/1/c3/1, this likely caused toSR236 interface 1/1/c3/1 to become inoperable.</a:t>
            </a:r>
            <a:r>
              <a:rPr lang="en-CA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💡</a:t>
            </a:r>
          </a:p>
          <a:p>
            <a:pPr marL="0" indent="0">
              <a:buNone/>
            </a:pPr>
            <a:endParaRPr lang="en-CA" sz="1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C6B764-7070-A5B3-59D4-747973DD86A6}"/>
              </a:ext>
            </a:extLst>
          </p:cNvPr>
          <p:cNvSpPr/>
          <p:nvPr/>
        </p:nvSpPr>
        <p:spPr>
          <a:xfrm>
            <a:off x="612647" y="4297943"/>
            <a:ext cx="10653579" cy="1122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20602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3BFF3-CFD0-4235-0A05-0E84E08D4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1FE64-A295-B734-C1F9-627CF34D6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Enhancements</a:t>
            </a:r>
            <a:br>
              <a:rPr lang="en-US" dirty="0"/>
            </a:br>
            <a:r>
              <a:rPr lang="en-US" sz="1800" b="0" dirty="0"/>
              <a:t>Slide 3 of 3</a:t>
            </a:r>
            <a:endParaRPr lang="en-CA" sz="1800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8C073-69C3-B910-3B9E-9EF1DD049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cs typeface="Courier New" panose="02070309020205020404" pitchFamily="49" charset="0"/>
              </a:rPr>
              <a:t>Integrate with Model Context Protocol (MCP) </a:t>
            </a:r>
            <a:endParaRPr lang="en-CA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363229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15595</TotalTime>
  <Words>2014</Words>
  <Application>Microsoft Office PowerPoint</Application>
  <PresentationFormat>Widescreen</PresentationFormat>
  <Paragraphs>125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Courier New</vt:lpstr>
      <vt:lpstr>Neue Haas Grotesk Text Pro</vt:lpstr>
      <vt:lpstr>VanillaVTI</vt:lpstr>
      <vt:lpstr> NSP Alarms GenAI  RCA Agent v4 Using Google Gemini</vt:lpstr>
      <vt:lpstr>Key Components</vt:lpstr>
      <vt:lpstr>UML</vt:lpstr>
      <vt:lpstr>Anonymized Data </vt:lpstr>
      <vt:lpstr>RCA Agent Prompt and Output</vt:lpstr>
      <vt:lpstr>RCA Agent ReAct Tools </vt:lpstr>
      <vt:lpstr>RCA Agent Demo </vt:lpstr>
      <vt:lpstr>RCA Agent Real Output #1</vt:lpstr>
      <vt:lpstr>RCA Agent Real Output #2</vt:lpstr>
      <vt:lpstr>RCA Agent Real Output #3</vt:lpstr>
      <vt:lpstr>Target Actor</vt:lpstr>
      <vt:lpstr>Continuous Improvement Slide 1 of 2</vt:lpstr>
      <vt:lpstr>Continuous Improvement Slide 2 of 2</vt:lpstr>
      <vt:lpstr>Future Enhancements Slide 1 of 3</vt:lpstr>
      <vt:lpstr>Future Enhancements Slide 2 of 3</vt:lpstr>
      <vt:lpstr>Future Enhancements Slide 3 of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Rahim Pirbhai (Nokia)</dc:creator>
  <cp:lastModifiedBy>Rahim Pirbhai (Nokia)</cp:lastModifiedBy>
  <cp:revision>116</cp:revision>
  <dcterms:created xsi:type="dcterms:W3CDTF">2025-05-16T21:04:11Z</dcterms:created>
  <dcterms:modified xsi:type="dcterms:W3CDTF">2025-06-10T14:39:50Z</dcterms:modified>
</cp:coreProperties>
</file>